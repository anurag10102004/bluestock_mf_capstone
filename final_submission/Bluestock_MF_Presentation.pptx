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 varScale="1">
        <p:scale>
          <a:sx n="45" d="100"/>
          <a:sy n="45" d="100"/>
        </p:scale>
        <p:origin x="53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67F23-7201-DED4-BEF6-A887E8E5A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3235FB-084E-E188-7685-5E36BBE2F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58AFC-76DA-2EE4-34ED-E8B12F17A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F851-DF6E-4E2E-AA66-BDF689EF3EF3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54649-1991-46CC-B7A7-4355EB1BD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7711A-AFB7-2DD7-C087-716D8C47F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4E3B6-8B24-4DBB-9BA4-110445BE9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752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D3F59-907D-C604-10FE-180C46094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3BEA6-7B77-2CE6-D5B1-9AD91ADF3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019BB-ADC9-3B1D-24E3-E4131834E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F851-DF6E-4E2E-AA66-BDF689EF3EF3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4765D-3E54-E133-6BDB-D472F5C6C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AA0D0-F774-9BCE-7C8C-9D1650E01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4E3B6-8B24-4DBB-9BA4-110445BE9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300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F0DCD-B57E-4E07-4FC8-8DD6A0A82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5A403-FEB5-0B59-1C88-A7008BA6E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F0BFF-152F-F0E5-1B3B-3DB1F3DC5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F851-DF6E-4E2E-AA66-BDF689EF3EF3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E9304-9A37-AED0-6A18-979256D23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8FE84-A9F0-7D1D-9415-9C5A47C58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4E3B6-8B24-4DBB-9BA4-110445BE9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89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2640B-A2B2-417F-0B7A-5111AAE8F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3D634-DA5D-CB97-8BB5-0DBE58410F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BD6800-CBBD-580D-F9EA-FF8039757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4C1B3-6D1C-1F67-9FE9-6984FD05F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F851-DF6E-4E2E-AA66-BDF689EF3EF3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246203-1785-5BA8-AF70-33ED0EE8F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91F94-1E2B-AED4-BF25-A0FF7011C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4E3B6-8B24-4DBB-9BA4-110445BE9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492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DF082-0613-EF39-50C7-0BF2474F4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CBF07-77A4-8D44-5B66-3AACC6940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2D7BD-95E9-505B-26B7-F8B229AA8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16E676-B835-4AA5-E94F-A02A6CE2DD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999780-5EB5-ABBB-811F-D9DB05F9FA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F2A4D5-E034-62CE-7106-E4E6ED48E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F851-DF6E-4E2E-AA66-BDF689EF3EF3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9655AF-4CA2-A135-4565-E10746006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B8D7C8-FF03-174F-216B-448F56107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4E3B6-8B24-4DBB-9BA4-110445BE9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434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4ED77-3441-99F8-63AE-8BE7D099C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03E530-DC0A-B4CB-849A-22AE73A7E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F851-DF6E-4E2E-AA66-BDF689EF3EF3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DCD39D-D60B-25AF-7040-83B9E4DD9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E35609-8284-2E41-DDED-EBFD44FBE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4E3B6-8B24-4DBB-9BA4-110445BE9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243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9E7687-87BC-F3ED-CDD6-C0AE1FD92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F851-DF6E-4E2E-AA66-BDF689EF3EF3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3455D4-9C6A-B4CB-192F-F0F96BCFE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7F5D0-E858-DD71-2151-E43BE3B38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4E3B6-8B24-4DBB-9BA4-110445BE9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962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F6567-5F3C-B593-D704-3F4067046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A0212-5CBC-2B82-49F3-CBB6164BE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E4948-A544-C8B5-6948-539F18203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4BF142-AC09-E72A-5288-F8D3915CA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F851-DF6E-4E2E-AA66-BDF689EF3EF3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C9937-47D0-4888-3582-C5E5569C6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88E18-852B-1F28-2B82-1FE2736E7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4E3B6-8B24-4DBB-9BA4-110445BE9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813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61D94-DA7B-3EBE-5C66-516F90656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02168D-9AAA-8AE4-BF92-4FDB8DC02C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336668-B36D-89E3-2AAF-1735AC4D1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0BDEF5-CAF4-F1C8-E412-7A60C77F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F851-DF6E-4E2E-AA66-BDF689EF3EF3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6DEA5-FF64-2D16-E923-3D013B24A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82343D-A261-1964-0D8B-A38019DD0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4E3B6-8B24-4DBB-9BA4-110445BE9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830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E1E72-4B5B-B579-F322-B55743BAB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BC2725-732E-8854-04D3-213CA461F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EBACE-6842-CD2F-D219-4D2BB780E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F851-DF6E-4E2E-AA66-BDF689EF3EF3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F277B-D62C-7148-85D7-0EA93D86E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A885B-5E12-5421-7E45-CD1E1D1E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4E3B6-8B24-4DBB-9BA4-110445BE9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644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C5A09A-5F3F-3EE8-BE33-843D179C20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5D2C5-BD78-65F6-ADC7-FEC010E77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8D4C1-A7B0-CD02-53C1-03171BDD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F851-DF6E-4E2E-AA66-BDF689EF3EF3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AFADB-D5A9-EBC5-B69D-C66D6FB9F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119AF-2099-9D93-59B7-0A5451F8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4E3B6-8B24-4DBB-9BA4-110445BE9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040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81B3B1-5875-76B1-A66D-423FB68B2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81C3A-C567-FB3A-6ACD-4DCA6AFCB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DBE77-06BA-74D0-F33A-4690273926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3F851-DF6E-4E2E-AA66-BDF689EF3EF3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DB741-3DEE-019E-8DB0-9A3030829B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07DC6-DE8A-8284-8ACF-4BF6D7331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4E3B6-8B24-4DBB-9BA4-110445BE9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131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26F04-FEC8-5A2E-2CF9-6EB8452960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 err="1"/>
              <a:t>Bluestock</a:t>
            </a:r>
            <a:r>
              <a:rPr lang="en-IN" dirty="0"/>
              <a:t> Mutual Fund Analytics</a:t>
            </a:r>
            <a:br>
              <a:rPr lang="en-IN" dirty="0"/>
            </a:br>
            <a:r>
              <a:rPr lang="en-IN" dirty="0"/>
              <a:t>Capstone Project 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37407-4F2B-7FFB-6516-BFF5DCADB9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Prepared By:</a:t>
            </a:r>
            <a:br>
              <a:rPr lang="en-IN" dirty="0"/>
            </a:br>
            <a:r>
              <a:rPr lang="en-IN" dirty="0"/>
              <a:t>Anurag Kaushik</a:t>
            </a:r>
            <a:br>
              <a:rPr lang="en-IN" dirty="0"/>
            </a:br>
            <a:r>
              <a:rPr lang="en-IN" dirty="0" err="1"/>
              <a:t>B.Tech</a:t>
            </a:r>
            <a:r>
              <a:rPr lang="en-IN" dirty="0"/>
              <a:t> CSE (AI &amp; ML)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1800937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92ED0-FD33-80B5-1A51-580D2F1B1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Problem Statement:</a:t>
            </a:r>
            <a:br>
              <a:rPr lang="en-IN" dirty="0"/>
            </a:br>
            <a:r>
              <a:rPr lang="en-IN" dirty="0" err="1"/>
              <a:t>Analyze</a:t>
            </a:r>
            <a:r>
              <a:rPr lang="en-IN" dirty="0"/>
              <a:t> mutual fund industry data to derive investment insights.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BA192-54EC-E84D-1D10-B09D4C8ED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Objectives:</a:t>
            </a:r>
            <a:br>
              <a:rPr lang="en-IN" dirty="0"/>
            </a:br>
            <a:r>
              <a:rPr lang="en-IN" dirty="0"/>
              <a:t>• ETL Pipeline</a:t>
            </a:r>
            <a:br>
              <a:rPr lang="en-IN" dirty="0"/>
            </a:br>
            <a:r>
              <a:rPr lang="en-IN" dirty="0"/>
              <a:t>• Data Cleaning</a:t>
            </a:r>
            <a:br>
              <a:rPr lang="en-IN" dirty="0"/>
            </a:br>
            <a:r>
              <a:rPr lang="en-IN" dirty="0"/>
              <a:t>• EDA</a:t>
            </a:r>
            <a:br>
              <a:rPr lang="en-IN" dirty="0"/>
            </a:br>
            <a:r>
              <a:rPr lang="en-IN" dirty="0"/>
              <a:t>• Fund Performance Analysis</a:t>
            </a:r>
            <a:br>
              <a:rPr lang="en-IN" dirty="0"/>
            </a:br>
            <a:r>
              <a:rPr lang="en-IN" dirty="0"/>
              <a:t>• Dashboard Development</a:t>
            </a:r>
            <a:br>
              <a:rPr lang="en-IN" dirty="0"/>
            </a:br>
            <a:r>
              <a:rPr lang="en-IN" dirty="0"/>
              <a:t>• Risk Analytics</a:t>
            </a:r>
            <a:br>
              <a:rPr lang="en-IN" dirty="0"/>
            </a:br>
            <a:r>
              <a:rPr lang="en-IN" dirty="0"/>
              <a:t>• Investor Analytics</a:t>
            </a:r>
          </a:p>
        </p:txBody>
      </p:sp>
    </p:spTree>
    <p:extLst>
      <p:ext uri="{BB962C8B-B14F-4D97-AF65-F5344CB8AC3E}">
        <p14:creationId xmlns:p14="http://schemas.microsoft.com/office/powerpoint/2010/main" val="449703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E8C7-9333-634E-B2E7-FCFAB8A94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Sources: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BB56F-229C-2C74-738E-D8331E505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Fund Master Data</a:t>
            </a:r>
            <a:br>
              <a:rPr lang="en-IN" dirty="0"/>
            </a:br>
            <a:r>
              <a:rPr lang="en-IN" dirty="0"/>
              <a:t>• NAV History</a:t>
            </a:r>
            <a:br>
              <a:rPr lang="en-IN" dirty="0"/>
            </a:br>
            <a:r>
              <a:rPr lang="en-IN" dirty="0"/>
              <a:t>• Investor Transactions</a:t>
            </a:r>
            <a:br>
              <a:rPr lang="en-IN" dirty="0"/>
            </a:br>
            <a:r>
              <a:rPr lang="en-IN" dirty="0"/>
              <a:t>• SIP Inflows</a:t>
            </a:r>
            <a:br>
              <a:rPr lang="en-IN" dirty="0"/>
            </a:br>
            <a:r>
              <a:rPr lang="en-IN" dirty="0"/>
              <a:t>• Category Inflows</a:t>
            </a:r>
            <a:br>
              <a:rPr lang="en-IN" dirty="0"/>
            </a:br>
            <a:r>
              <a:rPr lang="en-IN" dirty="0"/>
              <a:t>• Scheme Performance</a:t>
            </a:r>
            <a:br>
              <a:rPr lang="en-IN" dirty="0"/>
            </a:br>
            <a:r>
              <a:rPr lang="en-IN" dirty="0"/>
              <a:t>• Benchmark Indices</a:t>
            </a:r>
          </a:p>
        </p:txBody>
      </p:sp>
    </p:spTree>
    <p:extLst>
      <p:ext uri="{BB962C8B-B14F-4D97-AF65-F5344CB8AC3E}">
        <p14:creationId xmlns:p14="http://schemas.microsoft.com/office/powerpoint/2010/main" val="1330879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EF40C-C86B-7DC2-819F-0C869772C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8E479-7D4F-2A1D-AE8D-0EC6F07C9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Raw Data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ETL Pipeline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SQLite Database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EDA &amp; Analytics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Power BI Dashboard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Insights &amp;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195923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248F9-56D5-4ABA-481D-12FB19021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EDA Highlights: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57CFB-A1CC-24A4-B522-E6F4F24B5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Industry AUM increased over time.</a:t>
            </a:r>
            <a:br>
              <a:rPr lang="en-IN" dirty="0"/>
            </a:br>
            <a:r>
              <a:rPr lang="en-IN" dirty="0"/>
              <a:t>• SIP inflows showed consistent growth.</a:t>
            </a:r>
            <a:br>
              <a:rPr lang="en-IN" dirty="0"/>
            </a:br>
            <a:r>
              <a:rPr lang="en-IN" dirty="0"/>
              <a:t>• Equity funds dominated folio counts.</a:t>
            </a:r>
          </a:p>
          <a:p>
            <a:pPr marL="0" indent="0">
              <a:buNone/>
            </a:pPr>
            <a:r>
              <a:rPr lang="en-IN" dirty="0"/>
              <a:t>• Large-cap funds had stable returns.</a:t>
            </a:r>
            <a:br>
              <a:rPr lang="en-IN" dirty="0"/>
            </a:br>
            <a:r>
              <a:rPr lang="en-IN" dirty="0"/>
              <a:t>• Mid-cap funds showed higher volatility.</a:t>
            </a:r>
            <a:br>
              <a:rPr lang="en-IN" dirty="0"/>
            </a:br>
            <a:r>
              <a:rPr lang="en-IN" dirty="0"/>
              <a:t>• Investor participation increased yearly.</a:t>
            </a:r>
          </a:p>
        </p:txBody>
      </p:sp>
    </p:spTree>
    <p:extLst>
      <p:ext uri="{BB962C8B-B14F-4D97-AF65-F5344CB8AC3E}">
        <p14:creationId xmlns:p14="http://schemas.microsoft.com/office/powerpoint/2010/main" val="3686104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3220-7BF6-30FF-B83B-414465BF8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Metrics Used: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F5424-C6A0-8365-A159-D43A75F91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Alpha</a:t>
            </a:r>
            <a:br>
              <a:rPr lang="en-IN" dirty="0"/>
            </a:br>
            <a:r>
              <a:rPr lang="en-IN" dirty="0"/>
              <a:t>• Beta</a:t>
            </a:r>
            <a:br>
              <a:rPr lang="en-IN" dirty="0"/>
            </a:br>
            <a:r>
              <a:rPr lang="en-IN" dirty="0"/>
              <a:t>• Sharpe Ratio</a:t>
            </a:r>
            <a:br>
              <a:rPr lang="en-IN" dirty="0"/>
            </a:br>
            <a:r>
              <a:rPr lang="en-IN" dirty="0"/>
              <a:t>• Sortino Ratio</a:t>
            </a:r>
            <a:br>
              <a:rPr lang="en-IN" dirty="0"/>
            </a:br>
            <a:r>
              <a:rPr lang="en-IN" dirty="0"/>
              <a:t>• Maximum Drawdown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Top funds achieved superior Sharpe ratios.</a:t>
            </a:r>
          </a:p>
        </p:txBody>
      </p:sp>
    </p:spTree>
    <p:extLst>
      <p:ext uri="{BB962C8B-B14F-4D97-AF65-F5344CB8AC3E}">
        <p14:creationId xmlns:p14="http://schemas.microsoft.com/office/powerpoint/2010/main" val="2149096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AD7B2-254D-B54D-CF37-6A63A53FA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Analytics: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ED91B-8430-7261-9D6B-74AF1B2A3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Historical </a:t>
            </a:r>
            <a:r>
              <a:rPr lang="en-IN" dirty="0" err="1"/>
              <a:t>VaR</a:t>
            </a:r>
            <a:br>
              <a:rPr lang="en-IN" dirty="0"/>
            </a:br>
            <a:r>
              <a:rPr lang="en-IN" dirty="0"/>
              <a:t>• CVaR</a:t>
            </a:r>
            <a:br>
              <a:rPr lang="en-IN" dirty="0"/>
            </a:br>
            <a:r>
              <a:rPr lang="en-IN" dirty="0"/>
              <a:t>• Rolling Sharpe Ratio</a:t>
            </a:r>
            <a:br>
              <a:rPr lang="en-IN" dirty="0"/>
            </a:br>
            <a:r>
              <a:rPr lang="en-IN" dirty="0"/>
              <a:t>• Cohort Analysis</a:t>
            </a:r>
            <a:br>
              <a:rPr lang="en-IN" dirty="0"/>
            </a:br>
            <a:r>
              <a:rPr lang="en-IN" dirty="0"/>
              <a:t>• SIP Continuity Analysis</a:t>
            </a:r>
            <a:br>
              <a:rPr lang="en-IN" dirty="0"/>
            </a:br>
            <a:r>
              <a:rPr lang="en-IN" dirty="0"/>
              <a:t>• Fund Recommendation System</a:t>
            </a:r>
          </a:p>
        </p:txBody>
      </p:sp>
    </p:spTree>
    <p:extLst>
      <p:ext uri="{BB962C8B-B14F-4D97-AF65-F5344CB8AC3E}">
        <p14:creationId xmlns:p14="http://schemas.microsoft.com/office/powerpoint/2010/main" val="3423456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0B5833-5C15-5040-DA52-B5AB31B74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Dashboard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73CB41-AF5D-08F8-B3F6-4262E69073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273" y="1675227"/>
            <a:ext cx="798945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00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00506D-6A00-B48E-46FD-08359C9E9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641" y="643466"/>
            <a:ext cx="725871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11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F1959D-C4DE-04A7-A5B3-1F1910605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652" y="643466"/>
            <a:ext cx="685669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758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84E8DF-1AC6-6411-E569-4AC3E48721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672" y="643466"/>
            <a:ext cx="622465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808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46CA6-FB3A-F6E6-D21C-60707C295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244F4-2984-741E-034F-88501A3BA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• SIP inflows steadily increased.</a:t>
            </a:r>
            <a:br>
              <a:rPr lang="en-IN" dirty="0"/>
            </a:br>
            <a:r>
              <a:rPr lang="en-IN" dirty="0"/>
              <a:t>• High-risk funds delivered higher returns.</a:t>
            </a:r>
            <a:br>
              <a:rPr lang="en-IN" dirty="0"/>
            </a:br>
            <a:r>
              <a:rPr lang="en-IN" dirty="0"/>
              <a:t>• Certain cohorts invested more aggressively.</a:t>
            </a:r>
          </a:p>
        </p:txBody>
      </p:sp>
    </p:spTree>
    <p:extLst>
      <p:ext uri="{BB962C8B-B14F-4D97-AF65-F5344CB8AC3E}">
        <p14:creationId xmlns:p14="http://schemas.microsoft.com/office/powerpoint/2010/main" val="493627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F7DD-3DAB-CA91-D6B1-A411BF4A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61B66-1D7C-77F7-28CE-27D4699C9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Diversify investments.</a:t>
            </a:r>
            <a:br>
              <a:rPr lang="en-IN" dirty="0"/>
            </a:br>
            <a:r>
              <a:rPr lang="en-IN" dirty="0"/>
              <a:t>• Monitor SIP continuity.</a:t>
            </a:r>
            <a:br>
              <a:rPr lang="en-IN" dirty="0"/>
            </a:br>
            <a:r>
              <a:rPr lang="en-IN" dirty="0"/>
              <a:t>• Focus on risk-adjusted returns.</a:t>
            </a:r>
          </a:p>
        </p:txBody>
      </p:sp>
    </p:spTree>
    <p:extLst>
      <p:ext uri="{BB962C8B-B14F-4D97-AF65-F5344CB8AC3E}">
        <p14:creationId xmlns:p14="http://schemas.microsoft.com/office/powerpoint/2010/main" val="3356582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B62CA-11F6-43E7-C96F-1804AD4E2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4EDFD-5455-08ED-8E71-1B94F7D0E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Questions?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Anurag Kaushik</a:t>
            </a:r>
            <a:br>
              <a:rPr lang="en-IN" dirty="0"/>
            </a:br>
            <a:r>
              <a:rPr lang="en-IN" dirty="0" err="1"/>
              <a:t>B.Tech</a:t>
            </a:r>
            <a:r>
              <a:rPr lang="en-IN" dirty="0"/>
              <a:t> CSE (AI &amp; ML)</a:t>
            </a:r>
          </a:p>
        </p:txBody>
      </p:sp>
    </p:spTree>
    <p:extLst>
      <p:ext uri="{BB962C8B-B14F-4D97-AF65-F5344CB8AC3E}">
        <p14:creationId xmlns:p14="http://schemas.microsoft.com/office/powerpoint/2010/main" val="1192333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294</Words>
  <Application>Microsoft Office PowerPoint</Application>
  <PresentationFormat>Widescreen</PresentationFormat>
  <Paragraphs>32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Bluestock Mutual Fund Analytics Capstone Project I</vt:lpstr>
      <vt:lpstr>Problem Statement: Analyze mutual fund industry data to derive investment insights.</vt:lpstr>
      <vt:lpstr>Data Sources:</vt:lpstr>
      <vt:lpstr>Project Architecture</vt:lpstr>
      <vt:lpstr>EDA Highlights:</vt:lpstr>
      <vt:lpstr>Metrics Used:</vt:lpstr>
      <vt:lpstr>Advanced Analytics:</vt:lpstr>
      <vt:lpstr>Dashboard Overview</vt:lpstr>
      <vt:lpstr>PowerPoint Presentation</vt:lpstr>
      <vt:lpstr>PowerPoint Presentation</vt:lpstr>
      <vt:lpstr>PowerPoint Presentation</vt:lpstr>
      <vt:lpstr>Key Findings:</vt:lpstr>
      <vt:lpstr>Recommendations: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Anurag Kaushik</dc:creator>
  <cp:lastModifiedBy>Anurag Kaushik</cp:lastModifiedBy>
  <cp:revision>1</cp:revision>
  <dcterms:created xsi:type="dcterms:W3CDTF">2026-06-11T16:46:56Z</dcterms:created>
  <dcterms:modified xsi:type="dcterms:W3CDTF">2026-06-11T16:58:05Z</dcterms:modified>
</cp:coreProperties>
</file>